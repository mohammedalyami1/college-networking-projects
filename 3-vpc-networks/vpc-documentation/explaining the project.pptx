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4"/>
  </p:notesMasterIdLst>
  <p:handoutMasterIdLst>
    <p:handoutMasterId r:id="rId15"/>
  </p:handoutMasterIdLst>
  <p:sldIdLst>
    <p:sldId id="256" r:id="rId5"/>
    <p:sldId id="277" r:id="rId6"/>
    <p:sldId id="294" r:id="rId7"/>
    <p:sldId id="295" r:id="rId8"/>
    <p:sldId id="296" r:id="rId9"/>
    <p:sldId id="297" r:id="rId10"/>
    <p:sldId id="298" r:id="rId11"/>
    <p:sldId id="299" r:id="rId12"/>
    <p:sldId id="293" r:id="rId13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54" y="96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49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5C065-7973-41A8-A2CC-441A8BA3384C}" type="datetime1">
              <a:rPr lang="en-GB" smtClean="0"/>
              <a:t>14/5/25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87A586-3225-45EC-B90F-43F9676D14C2}" type="datetime1">
              <a:rPr lang="en-GB" smtClean="0"/>
              <a:pPr/>
              <a:t>14/5/25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2334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2913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3AA8A-2E04-C0FD-F449-E37061590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896DE9-076F-9C45-BB04-9D751010F7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850006-7C71-93A1-D6BE-F9DC7984C6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7F7DA-54EE-54C3-EE5B-EE872CC055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4086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6B40B-41FD-A754-D9AC-B9C7CE45E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AD7E4B-9937-152A-BA87-E3BCD996B8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59ABFD-508E-D219-9A90-6D6F6D4C4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9384A-AF71-CDD9-D3AA-5024974222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8761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A33BA-F679-0B97-1A6C-B898DDE7C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D24098-3A63-6B02-B418-416AF8F719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66A011-A57F-2C59-CD03-7E38D745D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9BBC9-EF53-609F-CE92-1E85945952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5055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EE54D-B038-0C9D-6F34-F176730E0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B72595-C564-AB11-CF2F-35B597F51F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E09974-9476-CB06-247D-3A27F864C1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4CD4C-44CD-3DAE-232E-D861229884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00099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AB0D2-292D-E47D-9455-1BCDFFEBD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32D90A-7E4F-CC91-3359-3B4A0A4185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3C2489-C219-7FA4-4013-ED67D40E8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C8AB0D-7B1F-3C92-BA20-7DDFAAB4D9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39883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66180-A48F-4A5C-6C52-5562E8D99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578901-961E-C619-13BA-71CAF5BDA4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716F66-1A94-A1B3-3B45-DF741919C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9D7A7-4B27-A886-5AAE-6E4DFBC721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03440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996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7332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5279" y="6356350"/>
            <a:ext cx="1808712" cy="365125"/>
          </a:xfrm>
        </p:spPr>
        <p:txBody>
          <a:bodyPr rtlCol="0"/>
          <a:lstStyle>
            <a:lvl1pPr>
              <a:defRPr sz="900"/>
            </a:lvl1pPr>
          </a:lstStyle>
          <a:p>
            <a:pPr algn="l" rtl="0"/>
            <a:r>
              <a:rPr lang="en-GB" noProof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86002"/>
            <a:ext cx="6094270" cy="3542143"/>
          </a:xfrm>
        </p:spPr>
        <p:txBody>
          <a:bodyPr rtlCol="0"/>
          <a:lstStyle/>
          <a:p>
            <a:pPr rtl="0"/>
            <a:r>
              <a:rPr lang="en-US" noProof="0"/>
              <a:t>Click icon to add chart</a:t>
            </a:r>
            <a:endParaRPr lang="en-GB" noProof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91003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39084"/>
            <a:ext cx="10515600" cy="3695338"/>
          </a:xfrm>
        </p:spPr>
        <p:txBody>
          <a:bodyPr rtlCol="0"/>
          <a:lstStyle/>
          <a:p>
            <a:pPr rtl="0"/>
            <a:r>
              <a:rPr lang="en-US" noProof="0"/>
              <a:t>Click icon to add SmartArt graphic</a:t>
            </a:r>
            <a:endParaRPr lang="en-GB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11558" y="5084524"/>
            <a:ext cx="219661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707607" y="5099206"/>
            <a:ext cx="214504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lvl="1"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98271" y="5099206"/>
            <a:ext cx="213298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18152" y="5084524"/>
            <a:ext cx="2132984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11391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24377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79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6190" y="4689366"/>
            <a:ext cx="9321621" cy="1122202"/>
          </a:xfrm>
        </p:spPr>
        <p:txBody>
          <a:bodyPr rtlCol="0"/>
          <a:lstStyle/>
          <a:p>
            <a:pPr rtl="0"/>
            <a:r>
              <a:rPr lang="en-US" sz="2800" dirty="0"/>
              <a:t>Secure &amp; Scalable AWS VPC Architecture for Small-to-Medium Businesses</a:t>
            </a:r>
            <a:endParaRPr lang="en-GB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973389"/>
            <a:ext cx="4941770" cy="396660"/>
          </a:xfrm>
        </p:spPr>
        <p:txBody>
          <a:bodyPr rtlCol="0"/>
          <a:lstStyle/>
          <a:p>
            <a:pPr rtl="0"/>
            <a:r>
              <a:rPr lang="en-GB" dirty="0"/>
              <a:t>Mohammed Aziz </a:t>
            </a:r>
            <a:r>
              <a:rPr lang="en-GB" dirty="0" err="1"/>
              <a:t>Alyami</a:t>
            </a:r>
            <a:r>
              <a:rPr lang="en-GB" dirty="0"/>
              <a:t> 442170174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413962"/>
            <a:ext cx="4567680" cy="763122"/>
          </a:xfrm>
        </p:spPr>
        <p:txBody>
          <a:bodyPr rtlCol="0">
            <a:normAutofit/>
          </a:bodyPr>
          <a:lstStyle/>
          <a:p>
            <a:pPr algn="l">
              <a:lnSpc>
                <a:spcPts val="2143"/>
              </a:lnSpc>
              <a:spcBef>
                <a:spcPts val="1372"/>
              </a:spcBef>
              <a:spcAft>
                <a:spcPts val="1029"/>
              </a:spcAft>
            </a:pPr>
            <a:r>
              <a:rPr lang="en-GB" sz="3600" b="1" i="0" dirty="0">
                <a:solidFill>
                  <a:srgbClr val="F8FAFF"/>
                </a:solidFill>
                <a:effectLst/>
                <a:latin typeface="DeepSeek-CJK-patch"/>
              </a:rPr>
              <a:t>Project Overview</a:t>
            </a:r>
            <a:endParaRPr lang="en-GB" sz="3600" b="0" i="0" dirty="0">
              <a:solidFill>
                <a:srgbClr val="F8FAFF"/>
              </a:solidFill>
              <a:effectLst/>
              <a:latin typeface="DeepSeek-CJK-patch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1414021"/>
            <a:ext cx="4416852" cy="4942327"/>
          </a:xfrm>
        </p:spPr>
        <p:txBody>
          <a:bodyPr rtlCol="0">
            <a:normAutofit fontScale="92500"/>
          </a:bodyPr>
          <a:lstStyle/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F8FAFF"/>
                </a:solidFill>
                <a:effectLst/>
                <a:latin typeface="DeepSeek-CJK-patch"/>
              </a:rPr>
              <a:t>Objective</a:t>
            </a:r>
            <a:r>
              <a:rPr lang="en-US" sz="1800" b="0" i="0" dirty="0">
                <a:solidFill>
                  <a:srgbClr val="F8FAFF"/>
                </a:solidFill>
                <a:effectLst/>
                <a:latin typeface="DeepSeek-CJK-patch"/>
              </a:rPr>
              <a:t>: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1800" b="0" i="1" dirty="0">
                <a:solidFill>
                  <a:srgbClr val="F8FAFF"/>
                </a:solidFill>
                <a:effectLst/>
                <a:latin typeface="DeepSeek-CJK-patch"/>
              </a:rPr>
              <a:t>Build a secure, fault-tolerant cloud network for a business using AWS VPC, Auto Scaling, and Load Balancing.</a:t>
            </a:r>
            <a:endParaRPr lang="en-US" sz="1800" b="0" i="0" dirty="0">
              <a:solidFill>
                <a:srgbClr val="F8FAFF"/>
              </a:solidFill>
              <a:effectLst/>
              <a:latin typeface="DeepSeek-CJK-patch"/>
            </a:endParaRP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F8FAFF"/>
                </a:solidFill>
                <a:effectLst/>
                <a:latin typeface="DeepSeek-CJK-patch"/>
              </a:rPr>
              <a:t>Key Components</a:t>
            </a:r>
            <a:r>
              <a:rPr lang="en-US" sz="1800" b="0" i="0" dirty="0">
                <a:solidFill>
                  <a:srgbClr val="F8FAFF"/>
                </a:solidFill>
                <a:effectLst/>
                <a:latin typeface="DeepSeek-CJK-patch"/>
              </a:rPr>
              <a:t>: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F8FAFF"/>
                </a:solidFill>
                <a:effectLst/>
                <a:latin typeface="DeepSeek-CJK-patch"/>
              </a:rPr>
              <a:t>Public/Private Subnets in 2 AZs.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F8FAFF"/>
                </a:solidFill>
                <a:effectLst/>
                <a:latin typeface="DeepSeek-CJK-patch"/>
              </a:rPr>
              <a:t>NAT Gateway, Internet Gateway, Security Groups.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F8FAFF"/>
                </a:solidFill>
                <a:effectLst/>
                <a:latin typeface="DeepSeek-CJK-patch"/>
              </a:rPr>
              <a:t>Application Load Balancer (ALB) &amp; Auto Scaling Group (ASG).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F8FAFF"/>
                </a:solidFill>
                <a:effectLst/>
                <a:latin typeface="DeepSeek-CJK-patch"/>
              </a:rPr>
              <a:t>Why It Matters</a:t>
            </a:r>
            <a:r>
              <a:rPr lang="en-US" sz="1800" b="0" i="0" dirty="0">
                <a:solidFill>
                  <a:srgbClr val="F8FAFF"/>
                </a:solidFill>
                <a:effectLst/>
                <a:latin typeface="DeepSeek-CJK-patch"/>
              </a:rPr>
              <a:t>: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1800" b="0" i="1" dirty="0">
                <a:solidFill>
                  <a:srgbClr val="F8FAFF"/>
                </a:solidFill>
                <a:effectLst/>
                <a:latin typeface="DeepSeek-CJK-patch"/>
              </a:rPr>
              <a:t>Ensures business continuity, scalability, and protection against outages.</a:t>
            </a:r>
            <a:endParaRPr lang="en-US" sz="1800" b="0" i="0" dirty="0">
              <a:solidFill>
                <a:srgbClr val="F8FAFF"/>
              </a:solidFill>
              <a:effectLst/>
              <a:latin typeface="DeepSeek-CJK-patch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13CE2-C1FC-DEBB-2247-6E545A5E8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F3F2C-7ABF-7A25-9F25-0C1EB74A7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2807" y="311084"/>
            <a:ext cx="4812482" cy="661252"/>
          </a:xfrm>
        </p:spPr>
        <p:txBody>
          <a:bodyPr rtlCol="0"/>
          <a:lstStyle/>
          <a:p>
            <a:pPr rtl="0"/>
            <a:r>
              <a:rPr lang="en-GB" dirty="0"/>
              <a:t>Architecture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04F8B-13F3-7063-CF2C-C9F2BC579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713" y="2901549"/>
            <a:ext cx="5111750" cy="152558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rtl="0"/>
            <a:r>
              <a:rPr lang="en-US" sz="2400" b="1" dirty="0"/>
              <a:t>Multi-AZ redundancy for high availability.</a:t>
            </a:r>
          </a:p>
          <a:p>
            <a:pPr rtl="0"/>
            <a:endParaRPr lang="en-US" dirty="0"/>
          </a:p>
          <a:p>
            <a:pPr rtl="0"/>
            <a:r>
              <a:rPr lang="en-US" sz="2000" b="1" dirty="0"/>
              <a:t>Traffic flows through the ALB to auto-scaled instances.</a:t>
            </a:r>
            <a:endParaRPr lang="en-GB" sz="2000" b="1" noProof="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2E3A9-FBCC-F70C-172D-59E4C2F39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3</a:t>
            </a:fld>
            <a:endParaRPr lang="en-GB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C8B770-9046-D9FF-3176-9EE7C8E6E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883" y="1611865"/>
            <a:ext cx="6783404" cy="483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81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D73AB-4589-4D8D-3A7B-E011E3C47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8555D-8030-680C-1992-E870AAA51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3239" y="243009"/>
            <a:ext cx="3870901" cy="557950"/>
          </a:xfrm>
        </p:spPr>
        <p:txBody>
          <a:bodyPr rtlCol="0">
            <a:normAutofit fontScale="90000"/>
          </a:bodyPr>
          <a:lstStyle/>
          <a:p>
            <a:pPr rtl="0"/>
            <a:r>
              <a:rPr lang="en-GB" sz="3600" dirty="0"/>
              <a:t>Subnet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50D8F-BD05-E9DA-BB27-AB575BBD45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3687" y="983521"/>
            <a:ext cx="7184625" cy="37326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rtl="0"/>
            <a:r>
              <a:rPr lang="en-GB" sz="1100" b="1" dirty="0">
                <a:latin typeface="+mn-lt"/>
              </a:rPr>
              <a:t>UNIQUE</a:t>
            </a:r>
            <a:r>
              <a:rPr lang="en-US" sz="1100" b="1" dirty="0">
                <a:latin typeface="+mn-lt"/>
              </a:rPr>
              <a:t>VVPC CIDR: 10.0.0.0/18 (IP Range: 10.0.0.0–10.0.63.255).PC CIDR: 10.0.0.0/18 </a:t>
            </a:r>
            <a:br>
              <a:rPr lang="en-US" sz="1100" b="1" dirty="0">
                <a:latin typeface="+mn-lt"/>
              </a:rPr>
            </a:br>
            <a:r>
              <a:rPr lang="en-US" sz="1100" b="1" dirty="0">
                <a:latin typeface="+mn-lt"/>
              </a:rPr>
              <a:t>(IP Range: 10.0.0.0–10.0.63.255).</a:t>
            </a:r>
            <a:endParaRPr lang="en-GB" sz="1100" b="1" dirty="0">
              <a:latin typeface="+mn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8F4B7F-2ED3-BA2B-D7F7-94D3E563563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761412" y="5746414"/>
            <a:ext cx="8128000" cy="609936"/>
          </a:xfrm>
        </p:spPr>
        <p:txBody>
          <a:bodyPr rtlCol="0">
            <a:normAutofit fontScale="85000" lnSpcReduction="20000"/>
          </a:bodyPr>
          <a:lstStyle/>
          <a:p>
            <a:pPr rtl="0"/>
            <a:endParaRPr lang="en-US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b="1" dirty="0"/>
              <a:t>Subnets are sized to avoid IP exhaustion while maintaining isolation.</a:t>
            </a:r>
            <a:endParaRPr lang="en-GB" b="1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8A075F40-CA01-E086-600E-D337C8976FF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4</a:t>
            </a:fld>
            <a:endParaRPr lang="en-GB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2A88903-E81F-2E47-6525-042C5F1D56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022795"/>
              </p:ext>
            </p:extLst>
          </p:nvPr>
        </p:nvGraphicFramePr>
        <p:xfrm>
          <a:off x="1761412" y="1348646"/>
          <a:ext cx="8128000" cy="4351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8951598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3496502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0929987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429973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solidFill>
                            <a:schemeClr val="tx1"/>
                          </a:solidFill>
                          <a:effectLst/>
                        </a:rPr>
                        <a:t>Subnet Type</a:t>
                      </a: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solidFill>
                            <a:schemeClr val="tx1"/>
                          </a:solidFill>
                          <a:effectLst/>
                        </a:rPr>
                        <a:t>AZ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solidFill>
                            <a:schemeClr val="tx1"/>
                          </a:solidFill>
                          <a:effectLst/>
                        </a:rPr>
                        <a:t>CIDR Block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Purpose</a:t>
                      </a:r>
                      <a:endParaRPr lang="en-GB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275495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Public-Subnet-1a</a:t>
                      </a: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me-central-1a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10.0.0.0/21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NAT Gateway, Bastion Host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379169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Private-App-1a</a:t>
                      </a: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me-central-1b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10.0.8.0/21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Auto-Scaled EC2 Instances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26998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Private-Data-1a</a:t>
                      </a: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me-central-1a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10.0.16.0/21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Databases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616347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Public-Subnet-1b</a:t>
                      </a: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me-central-1b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10.0.24.0/21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NAT Gateway, Bastion Host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162839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Private-App-1b</a:t>
                      </a: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me-central-1b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10.0.32.0/21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Auto-Scaled EC2 Instances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3547751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Private-Data-1b</a:t>
                      </a: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me-central-1b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10.0.40.0/21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Database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3762934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9734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9F21A-98A2-BB2B-9B32-9A94F626A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52904-FB78-A601-A911-1B735D598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608" y="144033"/>
            <a:ext cx="8421688" cy="1325563"/>
          </a:xfrm>
        </p:spPr>
        <p:txBody>
          <a:bodyPr rtlCol="0"/>
          <a:lstStyle/>
          <a:p>
            <a:pPr rtl="0"/>
            <a:r>
              <a:rPr lang="en-GB" dirty="0"/>
              <a:t>Security &amp; Compliance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2163C-E12E-64E4-EE8B-B43BE29FD1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47263" y="1529140"/>
            <a:ext cx="4031945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rtl="0"/>
            <a:r>
              <a:rPr lang="en-GB" dirty="0"/>
              <a:t>Security Groups: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403FE3-A72F-7D5E-C4C6-7C039AEBC3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47027" y="2036365"/>
            <a:ext cx="4031030" cy="1529694"/>
          </a:xfrm>
        </p:spPr>
        <p:txBody>
          <a:bodyPr rtlCol="0">
            <a:normAutofit/>
          </a:bodyPr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GB" dirty="0"/>
              <a:t>Bastion-SG: Allow SSH only from trusted IPs.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GB" dirty="0"/>
              <a:t>App-SG: Allow HTTP from ALB-SG and SSH from Bastion-SG.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GB" dirty="0"/>
              <a:t>ALB-SG: Allow HTTP/HTTPS from the internet.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BEAB66-4ED5-0654-ACB8-E78FADF051C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48039" y="3675485"/>
            <a:ext cx="4031945" cy="365125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en-GB" dirty="0"/>
              <a:t>Network ACLs: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2C538FE-6656-D0EC-8330-59FECCB75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48178" y="4182710"/>
            <a:ext cx="4031030" cy="1057308"/>
          </a:xfrm>
        </p:spPr>
        <p:txBody>
          <a:bodyPr rtlCol="0"/>
          <a:lstStyle/>
          <a:p>
            <a:pPr rtl="0"/>
            <a:r>
              <a:rPr lang="en-US" dirty="0"/>
              <a:t>Block all inbound traffic except HTTP/SSH from trusted subnets.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7CAD189-B745-A52D-0AB4-40D952C733F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48039" y="5017071"/>
            <a:ext cx="4031945" cy="365125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en-GB" dirty="0"/>
              <a:t>Best Practices: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8E370FE-65A1-AFF1-B9DC-26BC52605F9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87609" y="5491622"/>
            <a:ext cx="4352167" cy="527769"/>
          </a:xfrm>
        </p:spPr>
        <p:txBody>
          <a:bodyPr rtlCol="0"/>
          <a:lstStyle/>
          <a:p>
            <a:pPr rtl="0"/>
            <a:r>
              <a:rPr lang="en-US" dirty="0"/>
              <a:t>Least privilege access prevents unauthorized traffic.</a:t>
            </a:r>
            <a:endParaRPr lang="en-GB" dirty="0"/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0C1C11BF-458A-2BFE-9738-8F3353B4B28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5</a:t>
            </a:fld>
            <a:endParaRPr lang="en-GB"/>
          </a:p>
        </p:txBody>
      </p:sp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8DE797-F199-98D6-0E6F-C69C06688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76" y="1289853"/>
            <a:ext cx="6627043" cy="2623120"/>
          </a:xfrm>
          <a:prstGeom prst="rect">
            <a:avLst/>
          </a:prstGeom>
        </p:spPr>
      </p:pic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156058-6503-219A-DDBC-2D8277B839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76" y="4021459"/>
            <a:ext cx="6627043" cy="2437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306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004F1-3EFD-B05E-9710-96DDF5020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AC481-E882-244C-A24A-C652BF6F2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 rtlCol="0"/>
          <a:lstStyle/>
          <a:p>
            <a:pPr rtl="0"/>
            <a:r>
              <a:rPr lang="en-GB" dirty="0"/>
              <a:t>Connectivity &amp; Routing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D3886B-BB4D-ACFA-F828-CAE28BB03D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2469515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pPr rtl="0"/>
            <a:r>
              <a:rPr lang="en-GB" noProof="1"/>
              <a:t>Internet Gateway (IGW):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88A6E3-60B6-3FCF-B0D8-A2106BB6E0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/>
          <a:p>
            <a:pPr rtl="0"/>
            <a:r>
              <a:rPr lang="en-US" noProof="1"/>
              <a:t>Attached to the VPC for public subnet internet access.</a:t>
            </a:r>
            <a:endParaRPr lang="en-GB" noProof="1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5D9A951-C522-E95A-E7CC-BFD1A9CEB7F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22254" y="3569311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pPr rtl="0"/>
            <a:r>
              <a:rPr lang="en-GB" noProof="1"/>
              <a:t>NAT Gateways: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09F176-A129-8160-E020-B5055920A0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/>
          <a:p>
            <a:pPr rtl="0"/>
            <a:r>
              <a:rPr lang="en-US" noProof="1"/>
              <a:t>Private subnets use NAT Gateways in their AZ for outbound traffic.</a:t>
            </a:r>
            <a:endParaRPr lang="en-GB" noProof="1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66886F-0E23-914B-7328-BB6D424BC1D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22254" y="4669107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rtl="0"/>
            <a:r>
              <a:rPr lang="en-GB" noProof="1"/>
              <a:t>Route Tables:</a:t>
            </a:r>
          </a:p>
          <a:p>
            <a:pPr rtl="0"/>
            <a:endParaRPr lang="en-GB" noProof="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A5888-B75C-849E-BC10-150E4244485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21828" y="4998531"/>
            <a:ext cx="5431971" cy="780273"/>
          </a:xfrm>
        </p:spPr>
        <p:txBody>
          <a:bodyPr rtlCol="0">
            <a:normAutofit/>
          </a:bodyPr>
          <a:lstStyle/>
          <a:p>
            <a:pPr rtl="0"/>
            <a:r>
              <a:rPr lang="en-US" noProof="1"/>
              <a:t>Public Route Table: 0.0.0.0/0 → IGW.</a:t>
            </a:r>
          </a:p>
          <a:p>
            <a:pPr rtl="0"/>
            <a:r>
              <a:rPr lang="en-US" noProof="1"/>
              <a:t>Private Route Tables: 0.0.0.0/0 → NAT Gateway (per AZ).</a:t>
            </a:r>
            <a:endParaRPr lang="en-GB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D4AAE-4815-1F73-33C0-B12F37AD1F3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n-GB" smtClean="0"/>
              <a:pPr rtl="0"/>
              <a:t>6</a:t>
            </a:fld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6CDFA85-974E-D5B6-94B6-7E9EEFA035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629989"/>
            <a:ext cx="5665509" cy="18244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DE011D-EE9B-57B7-9388-C5618BCC26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2657098"/>
            <a:ext cx="5665509" cy="1824424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B3B5CC-C236-03A9-7A04-0DED91C67B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4669107"/>
            <a:ext cx="5665509" cy="190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376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04417-37DC-21EF-06CB-67541083C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D31C162-885E-784F-7F6E-D19ED551C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7811"/>
          </a:xfrm>
        </p:spPr>
        <p:txBody>
          <a:bodyPr rtlCol="0" anchor="ctr">
            <a:normAutofit/>
          </a:bodyPr>
          <a:lstStyle/>
          <a:p>
            <a:pPr rtl="0"/>
            <a:r>
              <a:rPr lang="en-GB" dirty="0"/>
              <a:t>Scalability &amp; High Availability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2769D-3049-55FD-FAA1-6329CEA65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7</a:t>
            </a:fld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5A03BF-29E3-3898-FA9B-ED7A15C7466A}"/>
              </a:ext>
            </a:extLst>
          </p:cNvPr>
          <p:cNvSpPr txBox="1"/>
          <p:nvPr/>
        </p:nvSpPr>
        <p:spPr>
          <a:xfrm>
            <a:off x="193250" y="1859339"/>
            <a:ext cx="615570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Application Load Balancer (ALB):</a:t>
            </a:r>
          </a:p>
          <a:p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Distributes traffic across instances in multiple AZs.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Health checks ensure only healthy instances receive traffic.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Auto Scaling Group (ASG):</a:t>
            </a:r>
          </a:p>
          <a:p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Maintains 2–4 EC2 instances based on CPU usage.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Launch template uses Amazon Linux 2023 with Apache.</a:t>
            </a:r>
          </a:p>
        </p:txBody>
      </p:sp>
      <p:pic>
        <p:nvPicPr>
          <p:cNvPr id="26" name="Picture 2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F24800-7D5E-123A-8E2C-2830179E6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814" y="1102936"/>
            <a:ext cx="5104864" cy="254458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1F679E3-1C30-C869-237A-3E6E8C9720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16814" y="4006948"/>
            <a:ext cx="5104864" cy="254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831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E1FB2-98DA-58C9-AC09-6ABBDB725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38C0B-2AAB-05E2-8E78-BE400BA73C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77161" y="582180"/>
            <a:ext cx="3001062" cy="1715531"/>
          </a:xfrm>
        </p:spPr>
        <p:txBody>
          <a:bodyPr rtlCol="0"/>
          <a:lstStyle/>
          <a:p>
            <a:pPr rtl="0"/>
            <a:r>
              <a:rPr lang="en-GB" dirty="0"/>
              <a:t>Testing &amp; Validation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92AB97-29CB-8419-8396-9A91D17D37FE}"/>
              </a:ext>
            </a:extLst>
          </p:cNvPr>
          <p:cNvSpPr txBox="1"/>
          <p:nvPr/>
        </p:nvSpPr>
        <p:spPr>
          <a:xfrm>
            <a:off x="5830478" y="2708780"/>
            <a:ext cx="6094428" cy="2387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8FAFF"/>
                </a:solidFill>
                <a:effectLst/>
              </a:rPr>
              <a:t>  Tests Conducted</a:t>
            </a:r>
            <a:r>
              <a:rPr lang="en-US" b="0" i="0" dirty="0">
                <a:solidFill>
                  <a:srgbClr val="F8FAFF"/>
                </a:solidFill>
                <a:effectLst/>
              </a:rPr>
              <a:t>: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8FAFF"/>
                </a:solidFill>
                <a:effectLst/>
              </a:rPr>
              <a:t>ALB Access</a:t>
            </a:r>
            <a:r>
              <a:rPr lang="en-US" b="0" i="0" dirty="0">
                <a:solidFill>
                  <a:srgbClr val="F8FAFF"/>
                </a:solidFill>
                <a:effectLst/>
              </a:rPr>
              <a:t>: Accessed ALB DNS name → Confirmed HTTP 200 response.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8FAFF"/>
                </a:solidFill>
                <a:effectLst/>
              </a:rPr>
              <a:t>SSH via Bastion</a:t>
            </a:r>
            <a:r>
              <a:rPr lang="en-US" b="0" i="0" dirty="0">
                <a:solidFill>
                  <a:srgbClr val="F8FAFF"/>
                </a:solidFill>
                <a:effectLst/>
              </a:rPr>
              <a:t>: Connected to private instances using bastion hosts.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8FAFF"/>
                </a:solidFill>
                <a:effectLst/>
              </a:rPr>
              <a:t>Auto Scaling Test</a:t>
            </a:r>
            <a:r>
              <a:rPr lang="en-US" b="0" i="0" dirty="0">
                <a:solidFill>
                  <a:srgbClr val="F8FAFF"/>
                </a:solidFill>
                <a:effectLst/>
              </a:rPr>
              <a:t>: Terminated an instance → Verified replacement.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CF73B6-418C-9448-0F3D-BCF9CF241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56" y="3313305"/>
            <a:ext cx="5828498" cy="328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932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892177"/>
            <a:ext cx="8421688" cy="1325563"/>
          </a:xfrm>
        </p:spPr>
        <p:txBody>
          <a:bodyPr rtlCol="0"/>
          <a:lstStyle/>
          <a:p>
            <a:pPr rtl="0"/>
            <a:r>
              <a:rPr lang="en-GB" dirty="0"/>
              <a:t>Challenges, Learnings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657664-A458-4DDD-ACC2-1D87FCD6F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76936"/>
            <a:ext cx="3924300" cy="823912"/>
          </a:xfrm>
        </p:spPr>
        <p:txBody>
          <a:bodyPr rtlCol="0"/>
          <a:lstStyle/>
          <a:p>
            <a:pPr rtl="0"/>
            <a:r>
              <a:rPr lang="en-GB" dirty="0"/>
              <a:t>Challenges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en-US" noProof="1"/>
              <a:t>Configuring route tables for multi-AZ traffic was initially confusing.</a:t>
            </a:r>
          </a:p>
          <a:p>
            <a:pPr rtl="0"/>
            <a:r>
              <a:rPr lang="en-US" noProof="1"/>
              <a:t>Debugging security group rules took time.</a:t>
            </a:r>
            <a:endParaRPr lang="en-GB" noProof="1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78017FE-712E-4E95-B483-B700F1AA4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0173" y="2776936"/>
            <a:ext cx="3943627" cy="823912"/>
          </a:xfrm>
        </p:spPr>
        <p:txBody>
          <a:bodyPr rtlCol="0"/>
          <a:lstStyle/>
          <a:p>
            <a:pPr rtl="0"/>
            <a:r>
              <a:rPr lang="en-GB" dirty="0"/>
              <a:t>Learnings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0E0ACA0-9139-4C37-920D-BF3C1FF461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 rtlCol="0"/>
          <a:lstStyle/>
          <a:p>
            <a:pPr rtl="0"/>
            <a:r>
              <a:rPr lang="en-US" noProof="1"/>
              <a:t>Tagging resources early avoids confusion.</a:t>
            </a:r>
          </a:p>
          <a:p>
            <a:pPr rtl="0"/>
            <a:r>
              <a:rPr lang="en-GB" noProof="1"/>
              <a:t>Infrastructure-as-Code (e.g., Terraform) saves time for future projects.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52A75-1CD2-44EC-9374-C83D4604A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7409390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419047_TF22318419_Win32" id="{DA6E7C03-7C07-46B9-8D9D-F061C4AB5C28}" vid="{0874F78C-8308-4EE6-8F19-85387B8691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1E84A1C-2814-43A7-9448-348326113A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5BA3906-9696-4247-AC0D-DD5C26B2A70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D446390-8521-40A2-A462-EA068123BED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86</TotalTime>
  <Words>449</Words>
  <Application>Microsoft Office PowerPoint</Application>
  <PresentationFormat>Widescreen</PresentationFormat>
  <Paragraphs>102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DeepSeek-CJK-patch</vt:lpstr>
      <vt:lpstr>Tenorite</vt:lpstr>
      <vt:lpstr>Monoline</vt:lpstr>
      <vt:lpstr>Secure &amp; Scalable AWS VPC Architecture for Small-to-Medium Businesses</vt:lpstr>
      <vt:lpstr>Project Overview</vt:lpstr>
      <vt:lpstr>Architecture Diagram</vt:lpstr>
      <vt:lpstr>Subnet Design</vt:lpstr>
      <vt:lpstr>Security &amp; Compliance</vt:lpstr>
      <vt:lpstr>Connectivity &amp; Routing</vt:lpstr>
      <vt:lpstr>Scalability &amp; High Availability</vt:lpstr>
      <vt:lpstr>Testing &amp; Validation</vt:lpstr>
      <vt:lpstr>Challenges, Learnings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محمد آل غانم اليامي ID 442170174</dc:creator>
  <cp:lastModifiedBy>محمد آل غانم اليامي ID 442170174</cp:lastModifiedBy>
  <cp:revision>2</cp:revision>
  <dcterms:created xsi:type="dcterms:W3CDTF">2025-05-14T18:51:38Z</dcterms:created>
  <dcterms:modified xsi:type="dcterms:W3CDTF">2025-05-14T20:18:15Z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